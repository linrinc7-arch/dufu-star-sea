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各位老师同学好，我做的作品叫《杜诗星海》。一句话说，我把杜甫全部一千四百六十八首诗，放进了一个由用词和意象决定的三维空间里，每一首诗是一颗星。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作品的起点是刘慈欣的《诗云》。那个神级文明把汉字所有的排列组合都写出来，堆成一片包裹恒星的云——它拥有全部的诗，却判断不出哪一首是好的。我想做的是它的反面：不是所有可能的诗，而是一个具体的人，用五十九年在饥饿、战乱和漂泊里写下的那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技术上分五步：取全唐诗语料筛出杜甫；做繁简和异体字校勘，比如“劒”要还原成“剑”，否则统计里“剑”字会凭空消失；然后自建十类意象词典；再用字符 n-gram 的 TF-IDF 加意象频率做特征，降到三维；最后聚类并打标签。有两个取舍值得说：古汉语不能用现代分词器，所以改用词典匹配；为了教室演示不出意外，我手写了 Canvas 渲染器，不依赖任何库。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主界面。每一颗星是一首诗，它们的距离不是随机的，语义越接近的诗靠得越近，所以你会看到一团一团的星团。颜色代表这首诗的主导意象类别，共十类：日月、江山、草木、鸟兽、器物、病老、愁思、兵戈、亲友、释道。可以拖动巡游、滚轮远近，鼠标移过去会照亮附近的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点开任意一颗星，就是这首诗的档案卡。这里以《登高》为例。右下角这四个词——浊酒、酒杯、落木、鬓——不是我自己挑的，是算法用 lift 值算出来的：它在《登高》里的频率远高于在全部杜诗里的平均频率，所以它是这首诗的“指纹”。这就是我说的“结论可回溯”。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这是检索。输入“月”，二百一十九首含“月”的诗同时亮起，其余的隐入暗处，像一条光路。这对应方向C原文里说的“按意象检索”那一项。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除了星海，还有三个模块把“人”补回来。这是生平：五个时期，三十六条大事记，二十九个行迹点。比如“困守长安”十年，是他从裘马清狂到“残杯与冷炙”的转折。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这是交游。杜甫赠李白的诗有十一首，赠严武十三首。线越粗代表赠诗越多。这里也回答了作业里“至少涉及两位课程诗人”的要求：李白、高适、岑参都在里面。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这是评点。从元稹写墓志铭到梁启超叫杜甫“情圣”，三十条。这条时间轴想说明一件事：杜甫不是一开始就是“诗圣”的，每个时代都在重新发现他一次。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回到开头。算法能排列出所有的诗，却排不出哪一首是好的。《登高》里那句“无边落木萧萧下，不尽长江滚滚来”，它不在任何一个“全组合”里——它只能来自一个在秋天登过高台、并且知道自己病了、老了、回不去的人。这就是我想说的：技术可以让我们更清楚地看见一首诗好在哪，但“好在哪”这件事，最后还是人的事。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hot_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408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0" i="0">
                <a:solidFill>
                  <a:srgbClr val="ECE7DB"/>
                </a:solidFill>
                <a:latin typeface="宋体"/>
                <a:ea typeface="宋体"/>
              </a:rPr>
              <a:t>杜诗星海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154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9A227"/>
                </a:solidFill>
                <a:latin typeface="Arial"/>
                <a:ea typeface="Arial"/>
              </a:rPr>
              <a:t>THE  STAR  SEA  OF  DU  FU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566160"/>
            <a:ext cx="2011680" cy="63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8A8578"/>
                </a:solidFill>
                <a:latin typeface="宋体"/>
                <a:ea typeface="宋体"/>
              </a:rPr>
              <a:t>一千四百六十八首诗，散作一片星海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9436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8578"/>
                </a:solidFill>
                <a:latin typeface="Arial"/>
                <a:ea typeface="Arial"/>
              </a:rPr>
              <a:t>《走近大诗人》期末作业 · 题目二 方向C · 诗歌数字化的技术实践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hot_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408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9A227"/>
                </a:solidFill>
                <a:latin typeface="Arial"/>
                <a:ea typeface="Arial"/>
              </a:rPr>
              <a:t>00 / ORIGIN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96012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3400" b="0" i="0">
                <a:solidFill>
                  <a:srgbClr val="ECE7DB"/>
                </a:solidFill>
                <a:latin typeface="宋体"/>
                <a:ea typeface="宋体"/>
              </a:rPr>
              <a:t>“它拥有全部的诗，</a:t>
            </a:r>
          </a:p>
          <a:p>
            <a:pPr algn="l">
              <a:lnSpc>
                <a:spcPct val="150000"/>
              </a:lnSpc>
            </a:pPr>
            <a:r>
              <a:rPr sz="3400" b="0" i="0">
                <a:solidFill>
                  <a:srgbClr val="ECE7DB"/>
                </a:solidFill>
                <a:latin typeface="宋体"/>
                <a:ea typeface="宋体"/>
              </a:rPr>
              <a:t>却判断不出哪一首是好的。”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4206240"/>
            <a:ext cx="1463040" cy="63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526280"/>
            <a:ext cx="87782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400" b="0" i="0">
                <a:solidFill>
                  <a:srgbClr val="8A8578"/>
                </a:solidFill>
                <a:latin typeface="宋体"/>
                <a:ea typeface="宋体"/>
              </a:rPr>
              <a:t>刘慈欣《诗云》里，神级文明耗尽太阳系的能量，把汉字所有可能的排列组合</a:t>
            </a:r>
          </a:p>
          <a:p>
            <a:pPr algn="l">
              <a:lnSpc>
                <a:spcPct val="190000"/>
              </a:lnSpc>
            </a:pPr>
            <a:r>
              <a:rPr sz="1400" b="0" i="0">
                <a:solidFill>
                  <a:srgbClr val="8A8578"/>
                </a:solidFill>
                <a:latin typeface="宋体"/>
                <a:ea typeface="宋体"/>
              </a:rPr>
              <a:t>全部写出来，堆成一朵包裹恒星的云。</a:t>
            </a:r>
          </a:p>
          <a:p>
            <a:pPr algn="l">
              <a:lnSpc>
                <a:spcPct val="190000"/>
              </a:lnSpc>
            </a:pPr>
            <a:r>
              <a:rPr sz="1400" b="0" i="0">
                <a:solidFill>
                  <a:srgbClr val="8A8578"/>
                </a:solidFill>
                <a:latin typeface="宋体"/>
                <a:ea typeface="宋体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400" b="0" i="0">
                <a:solidFill>
                  <a:srgbClr val="8A8578"/>
                </a:solidFill>
                <a:latin typeface="宋体"/>
                <a:ea typeface="宋体"/>
              </a:rPr>
              <a:t>杜甫的一千四百六十八首是它的反面——不是所有可能的诗，而是一个人写下的那些。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9A227"/>
                </a:solidFill>
                <a:latin typeface="Arial"/>
                <a:ea typeface="Arial"/>
              </a:rPr>
              <a:t>01 /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 i="0">
                <a:solidFill>
                  <a:srgbClr val="ECE7DB"/>
                </a:solidFill>
                <a:latin typeface="宋体"/>
                <a:ea typeface="宋体"/>
              </a:rPr>
              <a:t>从一万四千字到一片星海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8578"/>
                </a:solidFill>
                <a:latin typeface="宋体"/>
                <a:ea typeface="宋体"/>
              </a:rPr>
              <a:t>每一首诗变成三维空间里的一个点，距离由用词与意象决定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14600"/>
            <a:ext cx="2057400" cy="2148840"/>
          </a:xfrm>
          <a:prstGeom prst="rect">
            <a:avLst/>
          </a:prstGeom>
          <a:solidFill>
            <a:srgbClr val="0A0C12"/>
          </a:solidFill>
          <a:ln w="9525">
            <a:solidFill>
              <a:srgbClr val="1E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724912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C9A227"/>
                </a:solidFill>
                <a:latin typeface="宋体"/>
                <a:ea typeface="宋体"/>
              </a:rPr>
              <a:t>01  语料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154680"/>
            <a:ext cx="176479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《全唐诗》57,607 首</a:t>
            </a:r>
          </a:p>
          <a:p>
            <a:pPr algn="l">
              <a:lnSpc>
                <a:spcPct val="17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筛出杜甫 1,489 条</a:t>
            </a:r>
          </a:p>
        </p:txBody>
      </p:sp>
      <p:sp>
        <p:nvSpPr>
          <p:cNvPr id="9" name="Rectangle 8"/>
          <p:cNvSpPr/>
          <p:nvPr/>
        </p:nvSpPr>
        <p:spPr>
          <a:xfrm>
            <a:off x="3026664" y="2514600"/>
            <a:ext cx="2057400" cy="2148840"/>
          </a:xfrm>
          <a:prstGeom prst="rect">
            <a:avLst/>
          </a:prstGeom>
          <a:solidFill>
            <a:srgbClr val="0A0C12"/>
          </a:solidFill>
          <a:ln w="9525">
            <a:solidFill>
              <a:srgbClr val="1E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27832" y="2724912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C9A227"/>
                </a:solidFill>
                <a:latin typeface="宋体"/>
                <a:ea typeface="宋体"/>
              </a:rPr>
              <a:t>02  校勘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7832" y="3154680"/>
            <a:ext cx="176479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繁简 + 异体字 120 余条</a:t>
            </a:r>
          </a:p>
          <a:p>
            <a:pPr algn="l">
              <a:lnSpc>
                <a:spcPct val="17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近重复剔除 → 1,468 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30368" y="2514600"/>
            <a:ext cx="2057400" cy="2148840"/>
          </a:xfrm>
          <a:prstGeom prst="rect">
            <a:avLst/>
          </a:prstGeom>
          <a:solidFill>
            <a:srgbClr val="0A0C12"/>
          </a:solidFill>
          <a:ln w="9525">
            <a:solidFill>
              <a:srgbClr val="1E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31536" y="2724912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C9A227"/>
                </a:solidFill>
                <a:latin typeface="宋体"/>
                <a:ea typeface="宋体"/>
              </a:rPr>
              <a:t>03  意象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31536" y="3154680"/>
            <a:ext cx="176479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十类词典、约 200 词条</a:t>
            </a:r>
          </a:p>
          <a:p>
            <a:pPr algn="l">
              <a:lnSpc>
                <a:spcPct val="17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解决古汉语无法分词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4072" y="2514600"/>
            <a:ext cx="2057400" cy="2148840"/>
          </a:xfrm>
          <a:prstGeom prst="rect">
            <a:avLst/>
          </a:prstGeom>
          <a:solidFill>
            <a:srgbClr val="0A0C12"/>
          </a:solidFill>
          <a:ln w="9525">
            <a:solidFill>
              <a:srgbClr val="1E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2724912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C9A227"/>
                </a:solidFill>
                <a:latin typeface="宋体"/>
                <a:ea typeface="宋体"/>
              </a:rPr>
              <a:t>04  特征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3154680"/>
            <a:ext cx="176479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字符 n-gram TF-IDF 4,000 维</a:t>
            </a:r>
          </a:p>
          <a:p>
            <a:pPr algn="l">
              <a:lnSpc>
                <a:spcPct val="17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+ 意象频率 → SVD 64 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37776" y="2514600"/>
            <a:ext cx="2057400" cy="2148840"/>
          </a:xfrm>
          <a:prstGeom prst="rect">
            <a:avLst/>
          </a:prstGeom>
          <a:solidFill>
            <a:srgbClr val="0A0C12"/>
          </a:solidFill>
          <a:ln w="9525">
            <a:solidFill>
              <a:srgbClr val="1E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38944" y="2724912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C9A227"/>
                </a:solidFill>
                <a:latin typeface="宋体"/>
                <a:ea typeface="宋体"/>
              </a:rPr>
              <a:t>05  星海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38944" y="3154680"/>
            <a:ext cx="176479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t-SNE 降到三维</a:t>
            </a:r>
          </a:p>
          <a:p>
            <a:pPr algn="l">
              <a:lnSpc>
                <a:spcPct val="17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KMeans 分团 + lift 标签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074920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250" b="0" i="0">
                <a:solidFill>
                  <a:srgbClr val="8A8578"/>
                </a:solidFill>
                <a:latin typeface="宋体"/>
                <a:ea typeface="宋体"/>
              </a:rPr>
              <a:t>关键取舍：不用 jieba（会把“国破山河在”切碎）→ 自建词典匹配；不用 Three.js → 手写 Canvas，</a:t>
            </a:r>
          </a:p>
          <a:p>
            <a:pPr algn="l">
              <a:lnSpc>
                <a:spcPct val="180000"/>
              </a:lnSpc>
            </a:pPr>
            <a:r>
              <a:rPr sz="1250" b="0" i="0">
                <a:solidFill>
                  <a:srgbClr val="8A8578"/>
                </a:solidFill>
                <a:latin typeface="宋体"/>
                <a:ea typeface="宋体"/>
              </a:rPr>
              <a:t>单文件 0.8 MB，断网双击即开。每条结论都能回溯到具体的词与出处。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hot_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3040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9A227"/>
                </a:solidFill>
                <a:latin typeface="Arial"/>
                <a:ea typeface="Arial"/>
              </a:rPr>
              <a:t>02 / THE SEA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i="0">
                <a:solidFill>
                  <a:srgbClr val="ECE7DB"/>
                </a:solidFill>
                <a:latin typeface="宋体"/>
                <a:ea typeface="宋体"/>
              </a:rPr>
              <a:t>可漫游的星海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172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1,468 个点 · 距离 = 用词与意象的相似度 · 颜色 = 主导意象类别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hot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030408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9A227"/>
                </a:solidFill>
                <a:latin typeface="Arial"/>
                <a:ea typeface="Arial"/>
              </a:rPr>
              <a:t>03 / ONE POEM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8578"/>
                </a:solidFill>
                <a:latin typeface="宋体"/>
                <a:ea typeface="宋体"/>
              </a:rPr>
              <a:t>《登高》的区别性意象：浊酒 · 酒杯 · 落木 · 鬓 —— 全部由语料统计得出，不是手写标签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hot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3040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9A227"/>
                </a:solidFill>
                <a:latin typeface="Arial"/>
                <a:ea typeface="Arial"/>
              </a:rPr>
              <a:t>04 / 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41248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i="0">
                <a:solidFill>
                  <a:srgbClr val="ECE7DB"/>
                </a:solidFill>
                <a:latin typeface="宋体"/>
                <a:ea typeface="宋体"/>
              </a:rPr>
              <a:t>检索：一条光路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217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8578"/>
                </a:solidFill>
                <a:latin typeface="宋体"/>
                <a:ea typeface="宋体"/>
              </a:rPr>
              <a:t>输入“月”——219 首诗同时亮起，其余隐入暗处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hot_li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30408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9A227"/>
                </a:solidFill>
                <a:latin typeface="Arial"/>
                <a:ea typeface="Arial"/>
              </a:rPr>
              <a:t>05 / LIFE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0" i="0">
                <a:solidFill>
                  <a:srgbClr val="ECE7DB"/>
                </a:solidFill>
                <a:latin typeface="宋体"/>
                <a:ea typeface="宋体"/>
              </a:rPr>
              <a:t>一个人的</a:t>
            </a:r>
          </a:p>
          <a:p>
            <a:pPr algn="l">
              <a:lnSpc>
                <a:spcPct val="130000"/>
              </a:lnSpc>
            </a:pPr>
            <a:r>
              <a:rPr sz="3200" b="0" i="0">
                <a:solidFill>
                  <a:srgbClr val="ECE7DB"/>
                </a:solidFill>
                <a:latin typeface="宋体"/>
                <a:ea typeface="宋体"/>
              </a:rPr>
              <a:t>星轨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880360"/>
            <a:ext cx="1097280" cy="63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154680"/>
            <a:ext cx="30175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712 — 770</a:t>
            </a:r>
          </a:p>
          <a:p>
            <a:pPr algn="l">
              <a:lnSpc>
                <a:spcPct val="18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五期：读书漫游 / 困守长安</a:t>
            </a:r>
          </a:p>
          <a:p>
            <a:pPr algn="l">
              <a:lnSpc>
                <a:spcPct val="18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陷贼与为官 / 漂泊西南</a:t>
            </a:r>
          </a:p>
          <a:p>
            <a:pPr algn="l">
              <a:lnSpc>
                <a:spcPct val="18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流寓湖湘</a:t>
            </a:r>
          </a:p>
          <a:p>
            <a:pPr algn="l">
              <a:lnSpc>
                <a:spcPct val="18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36 条大事记 · 29 个行迹点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hot_fri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30408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9A227"/>
                </a:solidFill>
                <a:latin typeface="Arial"/>
                <a:ea typeface="Arial"/>
              </a:rPr>
              <a:t>06 / CIRCLE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ECE7DB"/>
                </a:solidFill>
                <a:latin typeface="宋体"/>
                <a:ea typeface="宋体"/>
              </a:rPr>
              <a:t>诗可以群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331720"/>
            <a:ext cx="1097280" cy="63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606040"/>
            <a:ext cx="301752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十二位同时代诗人</a:t>
            </a:r>
          </a:p>
          <a:p>
            <a:pPr algn="l">
              <a:lnSpc>
                <a:spcPct val="18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李白 11 首 · 严武 13 首</a:t>
            </a:r>
          </a:p>
          <a:p>
            <a:pPr algn="l">
              <a:lnSpc>
                <a:spcPct val="18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高适 10 首 · 郑虔 7 首</a:t>
            </a:r>
          </a:p>
          <a:p>
            <a:pPr algn="l">
              <a:lnSpc>
                <a:spcPct val="18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线越粗，赠诗越多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hot_cr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30408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9A227"/>
                </a:solidFill>
                <a:latin typeface="Arial"/>
                <a:ea typeface="Arial"/>
              </a:rPr>
              <a:t>07 / AFTERLIFE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ECE7DB"/>
                </a:solidFill>
                <a:latin typeface="宋体"/>
                <a:ea typeface="宋体"/>
              </a:rPr>
              <a:t>身后之名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331720"/>
            <a:ext cx="1097280" cy="63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606040"/>
            <a:ext cx="301752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三十条历代评杜</a:t>
            </a:r>
          </a:p>
          <a:p>
            <a:pPr algn="l">
              <a:lnSpc>
                <a:spcPct val="18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唐 · 元稹、韩愈</a:t>
            </a:r>
          </a:p>
          <a:p>
            <a:pPr algn="l">
              <a:lnSpc>
                <a:spcPct val="18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宋 · 苏轼、严羽、张戒</a:t>
            </a:r>
          </a:p>
          <a:p>
            <a:pPr algn="l">
              <a:lnSpc>
                <a:spcPct val="18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清 · 仇兆鳌、沈德潜</a:t>
            </a:r>
          </a:p>
          <a:p>
            <a:pPr algn="l">
              <a:lnSpc>
                <a:spcPct val="180000"/>
              </a:lnSpc>
            </a:pPr>
            <a:r>
              <a:rPr sz="1100" b="0" i="0">
                <a:solidFill>
                  <a:srgbClr val="8A8578"/>
                </a:solidFill>
                <a:latin typeface="宋体"/>
                <a:ea typeface="宋体"/>
              </a:rPr>
              <a:t>近代 · 梁启超、闻一多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hot_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408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3200" b="0" i="0">
                <a:solidFill>
                  <a:srgbClr val="ECE7DB"/>
                </a:solidFill>
                <a:latin typeface="宋体"/>
                <a:ea typeface="宋体"/>
              </a:rPr>
              <a:t>算法能排列出所有的诗</a:t>
            </a:r>
          </a:p>
          <a:p>
            <a:pPr algn="l">
              <a:lnSpc>
                <a:spcPct val="160000"/>
              </a:lnSpc>
            </a:pPr>
            <a:r>
              <a:rPr sz="3200" b="0" i="0">
                <a:solidFill>
                  <a:srgbClr val="ECE7DB"/>
                </a:solidFill>
                <a:latin typeface="宋体"/>
                <a:ea typeface="宋体"/>
              </a:rPr>
              <a:t>却排不出哪一首是好的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657600"/>
            <a:ext cx="1463040" cy="63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6012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200000"/>
              </a:lnSpc>
            </a:pPr>
            <a:r>
              <a:rPr sz="1400" b="0" i="0">
                <a:solidFill>
                  <a:srgbClr val="8A8578"/>
                </a:solidFill>
                <a:latin typeface="宋体"/>
                <a:ea typeface="宋体"/>
              </a:rPr>
              <a:t>一千二百年前，杜甫在夔州写下“无边落木萧萧下，不尽长江滚滚来”。</a:t>
            </a:r>
          </a:p>
          <a:p>
            <a:pPr algn="l">
              <a:lnSpc>
                <a:spcPct val="200000"/>
              </a:lnSpc>
            </a:pPr>
            <a:r>
              <a:rPr sz="1400" b="0" i="0">
                <a:solidFill>
                  <a:srgbClr val="8A8578"/>
                </a:solidFill>
                <a:latin typeface="宋体"/>
                <a:ea typeface="宋体"/>
              </a:rPr>
              <a:t>这句诗不在任何“全组合”里——它只能来自一个在秋天登过高台、</a:t>
            </a:r>
          </a:p>
          <a:p>
            <a:pPr algn="l">
              <a:lnSpc>
                <a:spcPct val="200000"/>
              </a:lnSpc>
            </a:pPr>
            <a:r>
              <a:rPr sz="1400" b="0" i="0">
                <a:solidFill>
                  <a:srgbClr val="8A8578"/>
                </a:solidFill>
                <a:latin typeface="宋体"/>
                <a:ea typeface="宋体"/>
              </a:rPr>
              <a:t>并且知道自己病了、老了、回不去的人。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9A227"/>
                </a:solidFill>
                <a:latin typeface="Arial"/>
                <a:ea typeface="Arial"/>
              </a:rPr>
              <a:t>谢谢 · 作品可在断网环境双击运行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